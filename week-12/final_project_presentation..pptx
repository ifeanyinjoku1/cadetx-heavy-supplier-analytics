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0" r:id="rId2"/>
    <p:sldId id="272" r:id="rId3"/>
    <p:sldId id="273" r:id="rId4"/>
    <p:sldId id="274" r:id="rId5"/>
    <p:sldId id="275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 /><Relationship Id="rId3" Type="http://schemas.openxmlformats.org/officeDocument/2006/relationships/slide" Target="slides/slide2.xml" /><Relationship Id="rId7" Type="http://schemas.openxmlformats.org/officeDocument/2006/relationships/presProps" Target="presProp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5" Type="http://schemas.openxmlformats.org/officeDocument/2006/relationships/slide" Target="slides/slide4.xml" /><Relationship Id="rId10" Type="http://schemas.openxmlformats.org/officeDocument/2006/relationships/tableStyles" Target="tableStyles.xml" /><Relationship Id="rId4" Type="http://schemas.openxmlformats.org/officeDocument/2006/relationships/slide" Target="slides/slide3.xml" /><Relationship Id="rId9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4323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3764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02845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41537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10/20/2026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8993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10/20/2026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4574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10/20/2026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3371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3197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1733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4176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70529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15331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7" orient="horz" pos="2160">
          <p15:clr>
            <a:srgbClr val="F26B43"/>
          </p15:clr>
        </p15:guide>
        <p15:guide id="8" pos="3840">
          <p15:clr>
            <a:srgbClr val="F26B43"/>
          </p15:clr>
        </p15:guide>
        <p15:guide id="9" pos="576">
          <p15:clr>
            <a:srgbClr val="F26B43"/>
          </p15:clr>
        </p15:guide>
        <p15:guide id="10" orient="horz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 /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 /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 /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FD1D2CD-954D-4C4D-B505-05EAD159B2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640080" y="1371600"/>
            <a:ext cx="4670661" cy="303084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GB" sz="5000"/>
              <a:t>CadetX Heavy Supplier Analytics: Final Presentation</a:t>
            </a:r>
          </a:p>
        </p:txBody>
      </p:sp>
      <p:sp>
        <p:nvSpPr>
          <p:cNvPr id="3" name="SubTitle"/>
          <p:cNvSpPr>
            <a:spLocks noGrp="1"/>
          </p:cNvSpPr>
          <p:nvPr>
            <p:ph type="subTitle" idx="1"/>
          </p:nvPr>
        </p:nvSpPr>
        <p:spPr>
          <a:xfrm>
            <a:off x="640080" y="5292147"/>
            <a:ext cx="4670660" cy="1287887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GB" sz="1100" dirty="0"/>
              <a:t>End-to-End Supply Chain Optimization, Predictive Modeling, and Business Intelligence
Team:
​Saw Yu Nandar (Scrum Master)
​Ifeanyi Njoku (Data Analyst)
​Preethi.K (Research Associate)
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132AEA7-A24A-45A9-BF8F-D0AFF34DF6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805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AD72F0DB-3551-52C1-958C-C0BC1AD269C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837" r="11634" b="-4"/>
          <a:stretch>
            <a:fillRect/>
          </a:stretch>
        </p:blipFill>
        <p:spPr>
          <a:xfrm>
            <a:off x="6515100" y="10"/>
            <a:ext cx="567690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29730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640080" y="1371600"/>
            <a:ext cx="5852160" cy="1097280"/>
          </a:xfrm>
        </p:spPr>
        <p:txBody>
          <a:bodyPr anchor="t">
            <a:normAutofit/>
          </a:bodyPr>
          <a:lstStyle/>
          <a:p>
            <a:r>
              <a:rPr lang="en-GB" sz="3700" dirty="0"/>
              <a:t>Project Scope &amp; Objectives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53FE100-D0AB-4AE2-824B-60CFA31EC6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6281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"/>
          <p:cNvSpPr>
            <a:spLocks noGrp="1"/>
          </p:cNvSpPr>
          <p:nvPr>
            <p:ph idx="1"/>
          </p:nvPr>
        </p:nvSpPr>
        <p:spPr>
          <a:xfrm>
            <a:off x="640080" y="2633236"/>
            <a:ext cx="5852160" cy="3664685"/>
          </a:xfrm>
        </p:spPr>
        <p:txBody>
          <a:bodyPr>
            <a:normAutofit/>
          </a:bodyPr>
          <a:lstStyle/>
          <a:p>
            <a:pPr lvl="0"/>
            <a:r>
              <a:rPr lang="en-GB" dirty="0"/>
              <a:t>Core Challenge: Managing heavy supplier loads, high-volume inventory, and multi-hub warehouse distribution pressure across logistics networks.​</a:t>
            </a:r>
          </a:p>
          <a:p>
            <a:pPr lvl="0"/>
            <a:r>
              <a:rPr lang="en-GB" dirty="0"/>
              <a:t>Key Deliverables: 12-week structured data pipeline, RFM customer segmentation, predictive forecasting models, and centralized BI reporting.</a:t>
            </a:r>
          </a:p>
          <a:p>
            <a:endParaRPr lang="en-GB" dirty="0"/>
          </a:p>
        </p:txBody>
      </p:sp>
      <p:pic>
        <p:nvPicPr>
          <p:cNvPr id="6" name="Picture 5" descr="Boxes and roller conveyor">
            <a:extLst>
              <a:ext uri="{FF2B5EF4-FFF2-40B4-BE49-F238E27FC236}">
                <a16:creationId xmlns:a16="http://schemas.microsoft.com/office/drawing/2014/main" id="{7A88D3BB-600E-A0A6-3B66-2DE14F2EF78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393" r="27609" b="4"/>
          <a:stretch>
            <a:fillRect/>
          </a:stretch>
        </p:blipFill>
        <p:spPr>
          <a:xfrm>
            <a:off x="7345680" y="10"/>
            <a:ext cx="484632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79149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640080" y="1371600"/>
            <a:ext cx="5852160" cy="1097280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GB" sz="3400" dirty="0"/>
              <a:t>Commercial &amp; Customer Insights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53FE100-D0AB-4AE2-824B-60CFA31EC6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6281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"/>
          <p:cNvSpPr>
            <a:spLocks noGrp="1"/>
          </p:cNvSpPr>
          <p:nvPr>
            <p:ph idx="1"/>
          </p:nvPr>
        </p:nvSpPr>
        <p:spPr>
          <a:xfrm>
            <a:off x="640080" y="2633236"/>
            <a:ext cx="5852160" cy="3664685"/>
          </a:xfrm>
        </p:spPr>
        <p:txBody>
          <a:bodyPr>
            <a:normAutofit/>
          </a:bodyPr>
          <a:lstStyle/>
          <a:p>
            <a:pPr lvl="0"/>
            <a:r>
              <a:rPr lang="en-GB" dirty="0"/>
              <a:t>Pareto Distribution: The top 20% of catalog SKUs drive 74% of total revenue.​Customer Concentration: The top decile (10%) of customer accounts generates 58% of overall gross revenue.​</a:t>
            </a:r>
          </a:p>
          <a:p>
            <a:pPr lvl="0"/>
            <a:r>
              <a:rPr lang="en-GB" dirty="0"/>
              <a:t>Retention: Supported by a strong 64.2% repeat customer rate and a solid $147.99 Average Order Value (AOV).</a:t>
            </a:r>
          </a:p>
        </p:txBody>
      </p:sp>
      <p:pic>
        <p:nvPicPr>
          <p:cNvPr id="6" name="Picture 5" descr="White percentage symbol on red background">
            <a:extLst>
              <a:ext uri="{FF2B5EF4-FFF2-40B4-BE49-F238E27FC236}">
                <a16:creationId xmlns:a16="http://schemas.microsoft.com/office/drawing/2014/main" id="{B3DDC550-25A4-CDE9-31B5-80AEA0E7943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3821" r="9077" b="-3"/>
          <a:stretch>
            <a:fillRect/>
          </a:stretch>
        </p:blipFill>
        <p:spPr>
          <a:xfrm>
            <a:off x="7345680" y="10"/>
            <a:ext cx="484632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5030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640080" y="1371600"/>
            <a:ext cx="5852160" cy="1097280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GB" sz="3400" dirty="0"/>
              <a:t>Warehouse Operations &amp; Bottlenecks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53FE100-D0AB-4AE2-824B-60CFA31EC6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6281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"/>
          <p:cNvSpPr>
            <a:spLocks noGrp="1"/>
          </p:cNvSpPr>
          <p:nvPr>
            <p:ph idx="1"/>
          </p:nvPr>
        </p:nvSpPr>
        <p:spPr>
          <a:xfrm>
            <a:off x="640080" y="2633236"/>
            <a:ext cx="5852160" cy="3664685"/>
          </a:xfrm>
        </p:spPr>
        <p:txBody>
          <a:bodyPr>
            <a:normAutofit/>
          </a:bodyPr>
          <a:lstStyle/>
          <a:p>
            <a:pPr lvl="0"/>
            <a:r>
              <a:rPr lang="en-GB" dirty="0"/>
              <a:t>Capacity Stress: The Central Warehouse handles 45% of total order processing volume.</a:t>
            </a:r>
          </a:p>
          <a:p>
            <a:pPr lvl="0"/>
            <a:r>
              <a:rPr lang="en-GB" dirty="0"/>
              <a:t>​Performance Gap: The Central hub’s fulfillment delay rate (4.2%) significantly outpaces regional hub averages (ranging between 1.5% and 2.1%).</a:t>
            </a:r>
          </a:p>
        </p:txBody>
      </p:sp>
      <p:pic>
        <p:nvPicPr>
          <p:cNvPr id="6" name="Picture 5" descr="Plastic containers in bright colours">
            <a:extLst>
              <a:ext uri="{FF2B5EF4-FFF2-40B4-BE49-F238E27FC236}">
                <a16:creationId xmlns:a16="http://schemas.microsoft.com/office/drawing/2014/main" id="{59E0A1AE-45D3-1F1E-BACF-951FF633096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862" r="29999" b="-10"/>
          <a:stretch>
            <a:fillRect/>
          </a:stretch>
        </p:blipFill>
        <p:spPr>
          <a:xfrm>
            <a:off x="7345680" y="10"/>
            <a:ext cx="484632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93709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640080" y="1371600"/>
            <a:ext cx="5852160" cy="1097280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GB" sz="3400" dirty="0"/>
              <a:t>Predictive Forecasting &amp; Strategic Roadmap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53FE100-D0AB-4AE2-824B-60CFA31EC6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6281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"/>
          <p:cNvSpPr>
            <a:spLocks noGrp="1"/>
          </p:cNvSpPr>
          <p:nvPr>
            <p:ph idx="1"/>
          </p:nvPr>
        </p:nvSpPr>
        <p:spPr>
          <a:xfrm>
            <a:off x="640080" y="2633236"/>
            <a:ext cx="5852160" cy="3664685"/>
          </a:xfrm>
        </p:spPr>
        <p:txBody>
          <a:bodyPr>
            <a:normAutofit/>
          </a:bodyPr>
          <a:lstStyle/>
          <a:p>
            <a:pPr lvl="0"/>
            <a:r>
              <a:rPr lang="en-GB" dirty="0"/>
              <a:t>Q1 Projections: Time-series demand modeling projects an 8% revenue expansion, targeting $520,000 for Q1.​</a:t>
            </a:r>
          </a:p>
          <a:p>
            <a:pPr lvl="0"/>
            <a:r>
              <a:rPr lang="en-GB" dirty="0"/>
              <a:t>Key Actions: Decentralize buffer stock, implement tier-1 customer SLAs, and upgrade to real-time streaming data pipelines.</a:t>
            </a:r>
          </a:p>
        </p:txBody>
      </p:sp>
      <p:pic>
        <p:nvPicPr>
          <p:cNvPr id="6" name="Picture 5" descr="Graph">
            <a:extLst>
              <a:ext uri="{FF2B5EF4-FFF2-40B4-BE49-F238E27FC236}">
                <a16:creationId xmlns:a16="http://schemas.microsoft.com/office/drawing/2014/main" id="{37BC6D2E-AE0D-E1CA-C56C-17563BD605A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661" r="29174" b="4"/>
          <a:stretch>
            <a:fillRect/>
          </a:stretch>
        </p:blipFill>
        <p:spPr>
          <a:xfrm>
            <a:off x="7345680" y="10"/>
            <a:ext cx="484632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526493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5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DashVTI</vt:lpstr>
      <vt:lpstr>CadetX Heavy Supplier Analytics: Final Presentation</vt:lpstr>
      <vt:lpstr>Project Scope &amp; Objectives</vt:lpstr>
      <vt:lpstr>Commercial &amp; Customer Insights</vt:lpstr>
      <vt:lpstr>Warehouse Operations &amp; Bottlenecks</vt:lpstr>
      <vt:lpstr>Predictive Forecasting &amp; Strategic Roadmap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CadetX Heavy Supplier Analytics: Final Presentation</dc:title>
  <dc:creator>Ifeanyi Njoku</dc:creator>
  <cp:lastModifiedBy>Ifeanyi Njoku</cp:lastModifiedBy>
  <cp:revision>1</cp:revision>
  <dcterms:created xsi:type="dcterms:W3CDTF">2026-10-20T03:33:30Z</dcterms:created>
  <dcterms:modified xsi:type="dcterms:W3CDTF">2026-10-20T03:43:04Z</dcterms:modified>
</cp:coreProperties>
</file>